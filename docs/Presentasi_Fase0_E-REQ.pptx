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keputusan siap diketok + demo skeleton yang sudah terhubung ke API embedding nyata.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Jika ditanya kenapa bukan WhatsApp untuk notifikasi: keputusan terkunci email saja - satu jalur, template per event, tanpa biaya WA Business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Jika ditanya kuota habis: antrian + retry backoff, job ditunda bukan hilang; provider bisa diganti via konfigurasi.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KPI #3 sekaligus alat pantau risiko ekstraksi CV gagal massal - bahan keputusan form terstruktur di akhir Fase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Revisi jadwal butuh persetujuan di sini. Alasan: sampel CV historis DS baru tersedia bertahap mulai minggu 3; menggeser screening ke minggu 4 memberi DS waktu tanpa menghentikan development. Risiko buffer tipis dimitigasi: fondasi embedding sudah selesai di Fase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1371600"/>
            <a:ext cx="3657600" cy="3657600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4754880"/>
            <a:ext cx="3291840" cy="3291840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457200" cy="457200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502920"/>
            <a:ext cx="457200" cy="457200"/>
          </a:xfrm>
          <a:prstGeom prst="ellipse">
            <a:avLst/>
          </a:prstGeom>
          <a:solidFill>
            <a:srgbClr val="E23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548640"/>
            <a:ext cx="3657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BIPROO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28600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E-REQ: AI Recruitment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38328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7941D"/>
                </a:solidFill>
                <a:latin typeface="Calibri"/>
              </a:rPr>
              <a:t>Presentasi Fase 0 - Sprint Keputusan + Fondasi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80644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Jumat, 17 Juli 2026</a:t>
            </a:r>
            <a:r>
              <a:rPr sz="1400" b="0" i="0">
                <a:solidFill>
                  <a:srgbClr val="BBBBBB"/>
                </a:solidFill>
                <a:latin typeface="Calibri"/>
              </a:rPr>
              <a:t>     •     Tim Development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B2B2B"/>
                </a:solidFill>
                <a:latin typeface="Calibri"/>
              </a:rPr>
              <a:t>Fase 0 Selesai Sesuai Rencana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66666"/>
                </a:solidFill>
                <a:latin typeface="Calibri"/>
              </a:rPr>
              <a:t>Sprint keputusan + fondasi, 13-17 Juli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3611880" cy="3108960"/>
          </a:xfrm>
          <a:prstGeom prst="roundRect">
            <a:avLst>
              <a:gd name="adj" fmla="val 8000"/>
            </a:avLst>
          </a:prstGeom>
          <a:solidFill>
            <a:srgbClr val="FFF6E6"/>
          </a:solidFill>
          <a:ln w="12700">
            <a:solidFill>
              <a:srgbClr val="F3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2011679"/>
            <a:ext cx="502920" cy="50292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697480"/>
            <a:ext cx="309981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B2B2B"/>
                </a:solidFill>
                <a:latin typeface="Calibri"/>
              </a:rPr>
              <a:t>3 Keputusan Siap Diketok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520439"/>
            <a:ext cx="309981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66666"/>
                </a:solidFill>
                <a:latin typeface="Calibri"/>
              </a:rPr>
              <a:t>Video interview (Zoom), infrastruktur AI (API embedding gratis), dan kerangka impact (KPI).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611880" cy="3108960"/>
          </a:xfrm>
          <a:prstGeom prst="roundRect">
            <a:avLst>
              <a:gd name="adj" fmla="val 8000"/>
            </a:avLst>
          </a:prstGeom>
          <a:solidFill>
            <a:srgbClr val="FFF6E6"/>
          </a:solidFill>
          <a:ln w="12700">
            <a:solidFill>
              <a:srgbClr val="F3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45152" y="2011679"/>
            <a:ext cx="502920" cy="50292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2697480"/>
            <a:ext cx="309981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B2B2B"/>
                </a:solidFill>
                <a:latin typeface="Calibri"/>
              </a:rPr>
              <a:t>Skeleton Terhubung API Nyata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3520439"/>
            <a:ext cx="309981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66666"/>
                </a:solidFill>
                <a:latin typeface="Calibri"/>
              </a:rPr>
              <a:t>Endpoint /screening berjalan end-to-end: antrian, retry, embedding Gemini asli - teruji 16 Juli.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737360"/>
            <a:ext cx="3611880" cy="3108960"/>
          </a:xfrm>
          <a:prstGeom prst="roundRect">
            <a:avLst>
              <a:gd name="adj" fmla="val 8000"/>
            </a:avLst>
          </a:prstGeom>
          <a:solidFill>
            <a:srgbClr val="FFF6E6"/>
          </a:solidFill>
          <a:ln w="12700">
            <a:solidFill>
              <a:srgbClr val="F3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85632" y="2011679"/>
            <a:ext cx="502920" cy="50292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2697480"/>
            <a:ext cx="309981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B2B2B"/>
                </a:solidFill>
                <a:latin typeface="Calibri"/>
              </a:rPr>
              <a:t>Bonus: Chatbot Ditutup Lebih Awal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3520439"/>
            <a:ext cx="309981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66666"/>
                </a:solidFill>
                <a:latin typeface="Calibri"/>
              </a:rPr>
              <a:t>Koordinasi Pak Irfan (13 Juli): chatbot kandidat, Gemini API, portal web - dibangun Fase 3.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39496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Calibri"/>
              </a:rPr>
              <a:t>Seluruh 7 kriteria selesai Fase 0 terpenuhi - rincian di slide Progres Teknis.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B2B2B"/>
                </a:solidFill>
                <a:latin typeface="Calibri"/>
              </a:rPr>
              <a:t>Keputusan 1 - Video Interview: Zoom Generate 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66666"/>
                </a:solidFill>
                <a:latin typeface="Calibri"/>
              </a:rPr>
              <a:t>Meeting dibuat otomatis via API, kandidat menerima link lewat email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636776"/>
            <a:ext cx="292608" cy="292608"/>
          </a:xfrm>
          <a:prstGeom prst="ellipse">
            <a:avLst/>
          </a:prstGeom>
          <a:solidFill>
            <a:srgbClr val="F79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Sederhana &amp; cepat dibangun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29384"/>
            <a:ext cx="46634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66666"/>
                </a:solidFill>
                <a:latin typeface="Calibri"/>
              </a:rPr>
              <a:t>Buat meeting via API + kirim email; tanpa video pipeline sendiri.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715768"/>
            <a:ext cx="292608" cy="292608"/>
          </a:xfrm>
          <a:prstGeom prst="ellipse">
            <a:avLst/>
          </a:prstGeom>
          <a:solidFill>
            <a:srgbClr val="F79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79191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B2B2B"/>
                </a:solidFill>
                <a:latin typeface="Calibri"/>
              </a:rPr>
              <a:t>Familiar bagi kandidat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008375"/>
            <a:ext cx="46634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66666"/>
                </a:solidFill>
                <a:latin typeface="Calibri"/>
              </a:rPr>
              <a:t>Tidak ada aplikasi baru yang harus dipelajari.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794759"/>
            <a:ext cx="292608" cy="292608"/>
          </a:xfrm>
          <a:prstGeom prst="ellipse">
            <a:avLst/>
          </a:prstGeom>
          <a:solidFill>
            <a:srgbClr val="F79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758183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B2B2B"/>
                </a:solidFill>
                <a:latin typeface="Calibri"/>
              </a:rPr>
              <a:t>Risiko demo rendah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7368"/>
            <a:ext cx="46634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66666"/>
                </a:solidFill>
                <a:latin typeface="Calibri"/>
              </a:rPr>
              <a:t>Kualitas video/audio ditanggung infrastruktur Zoom.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892040"/>
            <a:ext cx="5120640" cy="137160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 w="12700">
            <a:solidFill>
              <a:srgbClr val="E8A0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5074920"/>
            <a:ext cx="46177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 i="0">
                <a:solidFill>
                  <a:srgbClr val="E23B4E"/>
                </a:solidFill>
                <a:latin typeface="Calibri"/>
              </a:rPr>
              <a:t>Trade-off jujur: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anti-cheat browser tidak berlaku pada link eksternal.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i="0">
                <a:solidFill>
                  <a:srgbClr val="666666"/>
                </a:solidFill>
                <a:latin typeface="Calibri"/>
              </a:rPr>
              <a:t>Mitigasi MVP: SOP observasi recruiter; 3 opsi jangka panjang diajukan di Fase 4.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1600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B2B2B"/>
                </a:solidFill>
                <a:latin typeface="Calibri"/>
              </a:rPr>
              <a:t>Batas free tier Zoom (diverifikasi 16 Juli):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172200" y="2057400"/>
          <a:ext cx="5486400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  <a:gridCol w="3383280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Batasan</a:t>
                      </a:r>
                    </a:p>
                  </a:txBody>
                  <a:tcPr marL="73152" marR="54864" marT="27432" marB="27432" anchor="ctr">
                    <a:solidFill>
                      <a:srgbClr val="F794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Nilai</a:t>
                      </a:r>
                    </a:p>
                  </a:txBody>
                  <a:tcPr marL="73152" marR="54864" marT="27432" marB="27432" anchor="ctr">
                    <a:solidFill>
                      <a:srgbClr val="F7941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Meeting 1-lawan-1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s.d. 30 jam - praktis tanpa batas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Meeting ≥3 peserta</a:t>
                      </a:r>
                    </a:p>
                  </a:txBody>
                  <a:tcPr marL="73152" marR="54864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40 menit (relevan bila panel)</a:t>
                      </a:r>
                    </a:p>
                  </a:txBody>
                  <a:tcPr marL="73152" marR="54864" marT="27432" marB="27432" anchor="ctr"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Cloud recording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Tidak ada (rekam lokal saja)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Peserta maksimum</a:t>
                      </a:r>
                    </a:p>
                  </a:txBody>
                  <a:tcPr marL="73152" marR="54864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73152" marR="54864" marT="27432" marB="27432" anchor="ctr"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172200" y="4206240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  <a:latin typeface="Calibri"/>
              </a:rPr>
              <a:t>Kesimpulan: free tier memadai untuk MVP selama interview 1-lawan-1. Upgrade baru relevan bila panel interview / auto-transcribe dibutuhkan.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B2B2B"/>
                </a:solidFill>
                <a:latin typeface="Calibri"/>
              </a:rPr>
              <a:t>Keputusan 2 - API Embedding Gratis untuk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66666"/>
                </a:solidFill>
                <a:latin typeface="Calibri"/>
              </a:rPr>
              <a:t>Validasi konsep tanpa biaya; produksi memakai model hasil training sendiri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682496"/>
            <a:ext cx="292608" cy="292608"/>
          </a:xfrm>
          <a:prstGeom prst="ellipse">
            <a:avLst/>
          </a:prstGeom>
          <a:solidFill>
            <a:srgbClr val="F79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B2B2B"/>
                </a:solidFill>
                <a:latin typeface="Calibri"/>
              </a:rPr>
              <a:t>Biaya nol saat validasi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75104"/>
            <a:ext cx="51206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66666"/>
                </a:solidFill>
                <a:latin typeface="Calibri"/>
              </a:rPr>
              <a:t>Belum keluar uang sebelum pipeline terbukti bekerja untuk CV nyata.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798064"/>
            <a:ext cx="292608" cy="292608"/>
          </a:xfrm>
          <a:prstGeom prst="ellipse">
            <a:avLst/>
          </a:prstGeom>
          <a:solidFill>
            <a:srgbClr val="F79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761488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B2B2B"/>
                </a:solidFill>
                <a:latin typeface="Calibri"/>
              </a:rPr>
              <a:t>Tidak terkunci vendor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090672"/>
            <a:ext cx="51206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66666"/>
                </a:solidFill>
                <a:latin typeface="Calibri"/>
              </a:rPr>
              <a:t>Layer EmbeddingProvider swappable - ganti provider = ganti konfigurasi.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913632"/>
            <a:ext cx="292608" cy="292608"/>
          </a:xfrm>
          <a:prstGeom prst="ellipse">
            <a:avLst/>
          </a:prstGeom>
          <a:solidFill>
            <a:srgbClr val="F79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877056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B2B2B"/>
                </a:solidFill>
                <a:latin typeface="Calibri"/>
              </a:rPr>
              <a:t>Jalur produksi sudah dirancang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06240"/>
            <a:ext cx="51206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66666"/>
                </a:solidFill>
                <a:latin typeface="Calibri"/>
              </a:rPr>
              <a:t>Model dilatih dari data historis (dataset tim DS), masuk lewat layer yang sama.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029200"/>
            <a:ext cx="292608" cy="292608"/>
          </a:xfrm>
          <a:prstGeom prst="ellipse">
            <a:avLst/>
          </a:prstGeom>
          <a:solidFill>
            <a:srgbClr val="F79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992624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B2B2B"/>
                </a:solidFill>
                <a:latin typeface="Calibri"/>
              </a:rPr>
              <a:t>Privasi dijaga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321808"/>
            <a:ext cx="51206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66666"/>
                </a:solidFill>
                <a:latin typeface="Calibri"/>
              </a:rPr>
              <a:t>Atribut sensitif (gender, usia, agama, alamat, foto) dibuang SEBELUM dikirim ke API.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1645920"/>
            <a:ext cx="4937760" cy="2377440"/>
          </a:xfrm>
          <a:prstGeom prst="roundRect">
            <a:avLst>
              <a:gd name="adj" fmla="val 8000"/>
            </a:avLst>
          </a:prstGeom>
          <a:solidFill>
            <a:srgbClr val="FFF6E6"/>
          </a:solidFill>
          <a:ln w="12700">
            <a:solidFill>
              <a:srgbClr val="F3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1874519"/>
            <a:ext cx="4937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b="1" i="0">
                <a:solidFill>
                  <a:srgbClr val="F7941D"/>
                </a:solidFill>
                <a:latin typeface="Calibri"/>
              </a:rPr>
              <a:t>1.500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971800"/>
            <a:ext cx="4937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request gratis per hari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666666"/>
                </a:solidFill>
                <a:latin typeface="Calibri"/>
              </a:rPr>
              <a:t>Google Gemini - multilingual, tanpa kartu kredit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4343400"/>
            <a:ext cx="4937760" cy="173736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4526280"/>
            <a:ext cx="4389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 b="1" i="0">
                <a:solidFill>
                  <a:srgbClr val="2B2B2B"/>
                </a:solidFill>
                <a:latin typeface="Calibri"/>
              </a:rPr>
              <a:t>Dua jalur pipeline (A3.4):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Testing:  API eksternal (Gemini; cadangan Jina)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Produksi:  model training sendiri - plug-in ke layer yang sama, pipeline tidak berubah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B2B2B"/>
                </a:solidFill>
                <a:latin typeface="Calibri"/>
              </a:rPr>
              <a:t>Keputusan 3 - Kerangka Impact (KPI)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66666"/>
                </a:solidFill>
                <a:latin typeface="Calibri"/>
              </a:rPr>
              <a:t>Semua dihitung otomatis dari riwayat tahapan - tanpa pencatatan manual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3657600" cy="1600200"/>
          </a:xfrm>
          <a:prstGeom prst="roundRect">
            <a:avLst>
              <a:gd name="adj" fmla="val 8000"/>
            </a:avLst>
          </a:prstGeom>
          <a:solidFill>
            <a:srgbClr val="FFF6E6"/>
          </a:solidFill>
          <a:ln w="12700">
            <a:solidFill>
              <a:srgbClr val="F3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892808"/>
            <a:ext cx="457200" cy="457200"/>
          </a:xfrm>
          <a:prstGeom prst="ellipse">
            <a:avLst/>
          </a:prstGeom>
          <a:solidFill>
            <a:srgbClr val="F79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11096"/>
            <a:ext cx="2651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2B2B2B"/>
                </a:solidFill>
                <a:latin typeface="Calibri"/>
              </a:rPr>
              <a:t>Waktu screening per CV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606040"/>
            <a:ext cx="26517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66666"/>
                </a:solidFill>
                <a:latin typeface="Calibri"/>
              </a:rPr>
              <a:t>Baseline manual: menit → otomatis: detik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7" y="1691640"/>
            <a:ext cx="3657600" cy="1600200"/>
          </a:xfrm>
          <a:prstGeom prst="roundRect">
            <a:avLst>
              <a:gd name="adj" fmla="val 8000"/>
            </a:avLst>
          </a:prstGeom>
          <a:solidFill>
            <a:srgbClr val="FFF6E6"/>
          </a:solidFill>
          <a:ln w="12700">
            <a:solidFill>
              <a:srgbClr val="F3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08575" y="1892808"/>
            <a:ext cx="457200" cy="457200"/>
          </a:xfrm>
          <a:prstGeom prst="ellipse">
            <a:avLst/>
          </a:prstGeom>
          <a:solidFill>
            <a:srgbClr val="F79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0367" y="1911096"/>
            <a:ext cx="2651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2B2B2B"/>
                </a:solidFill>
                <a:latin typeface="Calibri"/>
              </a:rPr>
              <a:t>Throughput per hari per tahap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0367" y="2606040"/>
            <a:ext cx="26517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66666"/>
                </a:solidFill>
                <a:latin typeface="Calibri"/>
              </a:rPr>
              <a:t>Jumlah kandidat masuk tiap tahap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66175" y="1691640"/>
            <a:ext cx="3657600" cy="1600200"/>
          </a:xfrm>
          <a:prstGeom prst="roundRect">
            <a:avLst>
              <a:gd name="adj" fmla="val 8000"/>
            </a:avLst>
          </a:prstGeom>
          <a:solidFill>
            <a:srgbClr val="FFF6E6"/>
          </a:solidFill>
          <a:ln w="12700">
            <a:solidFill>
              <a:srgbClr val="F3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67343" y="1892808"/>
            <a:ext cx="457200" cy="457200"/>
          </a:xfrm>
          <a:prstGeom prst="ellipse">
            <a:avLst/>
          </a:prstGeom>
          <a:solidFill>
            <a:srgbClr val="F79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89135" y="1911096"/>
            <a:ext cx="2651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2B2B2B"/>
                </a:solidFill>
                <a:latin typeface="Calibri"/>
              </a:rPr>
              <a:t>% CV terbaca otomatis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89135" y="2606040"/>
            <a:ext cx="26517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66666"/>
                </a:solidFill>
                <a:latin typeface="Calibri"/>
              </a:rPr>
              <a:t>vs perlu proses ulang (failed_extraction)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493008"/>
            <a:ext cx="3657600" cy="1600200"/>
          </a:xfrm>
          <a:prstGeom prst="roundRect">
            <a:avLst>
              <a:gd name="adj" fmla="val 8000"/>
            </a:avLst>
          </a:prstGeom>
          <a:solidFill>
            <a:srgbClr val="FFF6E6"/>
          </a:solidFill>
          <a:ln w="12700">
            <a:solidFill>
              <a:srgbClr val="F3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3694176"/>
            <a:ext cx="457200" cy="457200"/>
          </a:xfrm>
          <a:prstGeom prst="ellipse">
            <a:avLst/>
          </a:prstGeom>
          <a:solidFill>
            <a:srgbClr val="F79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712464"/>
            <a:ext cx="2651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2B2B2B"/>
                </a:solidFill>
                <a:latin typeface="Calibri"/>
              </a:rPr>
              <a:t>Registrasi → Gate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407408"/>
            <a:ext cx="26517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66666"/>
                </a:solidFill>
                <a:latin typeface="Calibri"/>
              </a:rPr>
              <a:t>Lama kandidat menunggu keputusan pertama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07407" y="3493008"/>
            <a:ext cx="3657600" cy="1600200"/>
          </a:xfrm>
          <a:prstGeom prst="roundRect">
            <a:avLst>
              <a:gd name="adj" fmla="val 8000"/>
            </a:avLst>
          </a:prstGeom>
          <a:solidFill>
            <a:srgbClr val="FFF6E6"/>
          </a:solidFill>
          <a:ln w="12700">
            <a:solidFill>
              <a:srgbClr val="F3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608575" y="3694176"/>
            <a:ext cx="457200" cy="457200"/>
          </a:xfrm>
          <a:prstGeom prst="ellipse">
            <a:avLst/>
          </a:prstGeom>
          <a:solidFill>
            <a:srgbClr val="F79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0367" y="3712464"/>
            <a:ext cx="2651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2B2B2B"/>
                </a:solidFill>
                <a:latin typeface="Calibri"/>
              </a:rPr>
              <a:t>Registrasi → Gate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7" y="4407408"/>
            <a:ext cx="26517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66666"/>
                </a:solidFill>
                <a:latin typeface="Calibri"/>
              </a:rPr>
              <a:t>Lama proses seleksi end-to-end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66175" y="3493008"/>
            <a:ext cx="3657600" cy="1600200"/>
          </a:xfrm>
          <a:prstGeom prst="roundRect">
            <a:avLst>
              <a:gd name="adj" fmla="val 8000"/>
            </a:avLst>
          </a:prstGeom>
          <a:solidFill>
            <a:srgbClr val="FFF6E6"/>
          </a:solidFill>
          <a:ln w="12700">
            <a:solidFill>
              <a:srgbClr val="F3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467343" y="3694176"/>
            <a:ext cx="457200" cy="457200"/>
          </a:xfrm>
          <a:prstGeom prst="ellipse">
            <a:avLst/>
          </a:prstGeom>
          <a:solidFill>
            <a:srgbClr val="F79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89135" y="3712464"/>
            <a:ext cx="2651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2B2B2B"/>
                </a:solidFill>
                <a:latin typeface="Calibri"/>
              </a:rPr>
              <a:t>Distribusi source &amp; wilayah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89135" y="4407408"/>
            <a:ext cx="26517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66666"/>
                </a:solidFill>
                <a:latin typeface="Calibri"/>
              </a:rPr>
              <a:t>Bahan insight tim DS (MoM poin 11)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39496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B2B2B"/>
                </a:solidFill>
                <a:latin typeface="Calibri"/>
              </a:rPr>
              <a:t>Angka pertama: 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Fase 1 dari data testing.  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Angka produksi: 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setelah dataset bersih tim DS (serah terima bertahap mulai minggu ke-3).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B2B2B"/>
                </a:solidFill>
                <a:latin typeface="Calibri"/>
              </a:rPr>
              <a:t>Progres Teknis - Skeleton Berjalan (Demo)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66666"/>
                </a:solidFill>
                <a:latin typeface="Calibri"/>
              </a:rPr>
              <a:t>Uji end-to-end dengan API nyata, 16 Juli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F79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856232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2B2B2B"/>
                </a:solidFill>
                <a:latin typeface="Calibri"/>
              </a:rPr>
              <a:t>Kirim request screening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194560"/>
            <a:ext cx="4206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Sistem langsung membalas 202 + job_id - tidak menunggu proses selesai.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08960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" y="3474720"/>
            <a:ext cx="502920" cy="502920"/>
          </a:xfrm>
          <a:prstGeom prst="ellipse">
            <a:avLst/>
          </a:prstGeom>
          <a:solidFill>
            <a:srgbClr val="F79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273552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2B2B2B"/>
                </a:solidFill>
                <a:latin typeface="Calibri"/>
              </a:rPr>
              <a:t>Cek status job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611880"/>
            <a:ext cx="4206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queued → processing → done; embedding nyata Gemini, vektor 3072 dimensi.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526280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7240" y="4892040"/>
            <a:ext cx="502920" cy="502920"/>
          </a:xfrm>
          <a:prstGeom prst="ellipse">
            <a:avLst/>
          </a:prstGeom>
          <a:solidFill>
            <a:srgbClr val="F79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690872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2B2B2B"/>
                </a:solidFill>
                <a:latin typeface="Calibri"/>
              </a:rPr>
              <a:t>Ketahanan teruji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5029200"/>
            <a:ext cx="4206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Rate limit → retry otomatis (2-4-8 dtk); kuota habis → job ditunda, tidak ada kandidat hilang.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60020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B2B2B"/>
                </a:solidFill>
                <a:latin typeface="Calibri"/>
              </a:rPr>
              <a:t>Kriteria selesai Fase 0 - status 7/7: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309360" y="2011680"/>
          <a:ext cx="5349240" cy="26883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17720"/>
                <a:gridCol w="731520"/>
              </a:tblGrid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Endpoint /screening balas 202 + job_id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Koneksi API embedding teruji (e2e)</a:t>
                      </a:r>
                    </a:p>
                  </a:txBody>
                  <a:tcPr marL="73152" marR="54864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54864" marT="27432" marB="27432" anchor="ctr"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Interface EmbeddingProvider swappable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Kerangka KPI final (tabel)</a:t>
                      </a:r>
                    </a:p>
                  </a:txBody>
                  <a:tcPr marL="73152" marR="54864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54864" marT="27432" marB="27432" anchor="ctr"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Dokumen justifikasi Zoom + API gratis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Meeting Pak Irfan + scope chatbot</a:t>
                      </a:r>
                    </a:p>
                  </a:txBody>
                  <a:tcPr marL="73152" marR="54864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54864" marT="27432" marB="27432" anchor="ctr"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Desain skema tabel inti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B2B2B"/>
                </a:solidFill>
                <a:latin typeface="Calibri"/>
              </a:rPr>
              <a:t>Bonus - Keputusan Chatbot Sudah Ditutup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66666"/>
                </a:solidFill>
                <a:latin typeface="Calibri"/>
              </a:rPr>
              <a:t>Hasil koordinasi dengan Pak Irfan, 13 Juli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91640"/>
          <a:ext cx="7498080" cy="28529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  <a:gridCol w="5394960"/>
              </a:tblGrid>
              <a:tr h="47548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Aspek</a:t>
                      </a:r>
                    </a:p>
                  </a:txBody>
                  <a:tcPr marL="73152" marR="54864" marT="27432" marB="27432" anchor="ctr">
                    <a:solidFill>
                      <a:srgbClr val="F794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Keputusan</a:t>
                      </a:r>
                    </a:p>
                  </a:txBody>
                  <a:tcPr marL="73152" marR="54864" marT="27432" marB="27432" anchor="ctr">
                    <a:solidFill>
                      <a:srgbClr val="F7941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Calibri"/>
                        </a:rPr>
                        <a:t>Target pengguna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Calibri"/>
                        </a:rPr>
                        <a:t>Kandidat yang bingung status lamaran (bukan dashboard internal HR)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Calibri"/>
                        </a:rPr>
                        <a:t>Provider LLM (testing)</a:t>
                      </a:r>
                    </a:p>
                  </a:txBody>
                  <a:tcPr marL="73152" marR="54864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Calibri"/>
                        </a:rPr>
                        <a:t>Gemini API - satu vendor dengan embedding screening</a:t>
                      </a:r>
                    </a:p>
                  </a:txBody>
                  <a:tcPr marL="73152" marR="54864" marT="27432" marB="27432" anchor="ctr">
                    <a:solidFill>
                      <a:srgbClr val="F2F4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Calibri"/>
                        </a:rPr>
                        <a:t>Channel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Calibri"/>
                        </a:rPr>
                        <a:t>Web, terintegrasi ke portal kandidat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Calibri"/>
                        </a:rPr>
                        <a:t>Timeline</a:t>
                      </a:r>
                    </a:p>
                  </a:txBody>
                  <a:tcPr marL="73152" marR="54864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Calibri"/>
                        </a:rPr>
                        <a:t>Tetap Fase 3 (3-7 Agustus 2026)</a:t>
                      </a:r>
                    </a:p>
                  </a:txBody>
                  <a:tcPr marL="73152" marR="54864" marT="27432" marB="27432" anchor="ctr">
                    <a:solidFill>
                      <a:srgbClr val="F2F4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Calibri"/>
                        </a:rPr>
                        <a:t>Kaitan fitur lain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Calibri"/>
                        </a:rPr>
                        <a:t>Provider sama dipakai fitur auto generate question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366760" y="1691640"/>
            <a:ext cx="3246120" cy="2852928"/>
          </a:xfrm>
          <a:prstGeom prst="roundRect">
            <a:avLst>
              <a:gd name="adj" fmla="val 8000"/>
            </a:avLst>
          </a:prstGeom>
          <a:solidFill>
            <a:srgbClr val="FFF6E6"/>
          </a:solidFill>
          <a:ln w="12700">
            <a:solidFill>
              <a:srgbClr val="F3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080" y="1965960"/>
            <a:ext cx="26974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1" i="0">
                <a:solidFill>
                  <a:srgbClr val="2B2B2B"/>
                </a:solidFill>
                <a:latin typeface="Calibri"/>
              </a:rPr>
              <a:t>Sisa keputusan management di Fase 4: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666666"/>
                </a:solidFill>
                <a:latin typeface="Calibri"/>
              </a:rPr>
              <a:t>Anti-cheat - pilih dari 3 opsi (observasi / embedded SDK / proctoring).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93776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Calibri"/>
              </a:rPr>
              <a:t>Keputusan yang lebih cepat = Fase 1-4 bisa fokus penuh pada eksekusi.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-1188720"/>
            <a:ext cx="3291840" cy="3291840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88720" y="4846320"/>
            <a:ext cx="3474720" cy="3474720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008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Minggu Depan - Fase 1 (Revisi Jadwal): Alur + Gate + Email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2588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BBBBBB"/>
                </a:solidFill>
                <a:latin typeface="Calibri"/>
              </a:rPr>
              <a:t>Usulan revisi: pipeline screening CV digeser ke minggu 4 - menunggu sampel CV historis tim DS; alur maju lebih dulu memakai skor dummy (kontrak API sudah final).</a:t>
            </a:r>
          </a:p>
        </p:txBody>
      </p:sp>
      <p:sp>
        <p:nvSpPr>
          <p:cNvPr id="7" name="Oval 6"/>
          <p:cNvSpPr/>
          <p:nvPr/>
        </p:nvSpPr>
        <p:spPr>
          <a:xfrm>
            <a:off x="603504" y="2194560"/>
            <a:ext cx="274320" cy="274320"/>
          </a:xfrm>
          <a:prstGeom prst="ellipse">
            <a:avLst/>
          </a:prstGeom>
          <a:solidFill>
            <a:srgbClr val="F79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48840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Gate 1 &amp; 2 dengan soft-flag zona tengah (human-in-the-loop), skor dummy dulu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2852928"/>
            <a:ext cx="274320" cy="274320"/>
          </a:xfrm>
          <a:prstGeom prst="ellipse">
            <a:avLst/>
          </a:prstGeom>
          <a:solidFill>
            <a:srgbClr val="F79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807208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Mesin notifikasi email: 4 template inti via antrian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3511296"/>
            <a:ext cx="274320" cy="274320"/>
          </a:xfrm>
          <a:prstGeom prst="ellipse">
            <a:avLst/>
          </a:prstGeom>
          <a:solidFill>
            <a:srgbClr val="F79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465576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Minggu 3: Zoom + chatbot  •  Minggu 4: pipeline screening CV nyata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25196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480560"/>
            <a:ext cx="10424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7941D"/>
                </a:solidFill>
                <a:latin typeface="Calibri"/>
              </a:rPr>
              <a:t>Target presentasi 24 Juli: 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kandidat testing berjalan registrasi → keputusan Gate 1, email terkirim di tiap perubahan status.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98932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BBBBBB"/>
                </a:solidFill>
                <a:latin typeface="Calibri"/>
              </a:rPr>
              <a:t>Terima kasih - siap menerima arahan &amp; feedback.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